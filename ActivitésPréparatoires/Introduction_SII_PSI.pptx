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5D4"/>
    <a:srgbClr val="E6B9B8"/>
    <a:srgbClr val="BE4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>
      <p:cViewPr>
        <p:scale>
          <a:sx n="100" d="100"/>
          <a:sy n="100" d="100"/>
        </p:scale>
        <p:origin x="48" y="-6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4A05E-DEA9-4CEA-A63B-3593EEF3AC45}" type="datetimeFigureOut">
              <a:rPr lang="fr-FR" smtClean="0"/>
              <a:pPr/>
              <a:t>18/05/2026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215E4-C268-49C5-99B2-A7D91F84115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39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E215E4-C268-49C5-99B2-A7D91F84115D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pt_ptsi\Desktop\Github\Informatique\P_01_Architecture\01_ArchitectureMaterielle\Cours\png\Fond_ARCH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179512"/>
            <a:ext cx="12192000" cy="435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 descr="C:\Users\pt_ptsi\Desktop\Github\Informatique\P_02_AlgorithmiqueProgrammation\02_IntroductionAlgorithmique\Cours\png\Fond_AL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59176"/>
            <a:ext cx="9264352" cy="339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:\Users\pt_ptsi\Desktop\Github\Informatique\P_03_SimulationNumerique\01_IntegrationNumerique\Cours\png\Fond_SIMU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71" y="3853958"/>
            <a:ext cx="7430860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 userDrawn="1"/>
        </p:nvSpPr>
        <p:spPr>
          <a:xfrm>
            <a:off x="0" y="-1179512"/>
            <a:ext cx="12192000" cy="803751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1625600" y="3286124"/>
            <a:ext cx="9144000" cy="1590676"/>
          </a:xfrm>
        </p:spPr>
        <p:txBody>
          <a:bodyPr anchor="t" anchorCtr="0">
            <a:normAutofit/>
          </a:bodyPr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dirty="0"/>
              <a:t>Cliquez pour modifier le style des sous-titres du masque</a:t>
            </a:r>
            <a:endParaRPr kumimoji="0" lang="en-US" dirty="0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fld id="{3A961F90-11F6-4966-B0E5-2BB20F714B78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206500" y="3214687"/>
            <a:ext cx="9753600" cy="1713549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214687"/>
            <a:ext cx="304800" cy="1713549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F7E1-4A71-4560-AA4D-33BBAAF32357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fld id="{9BE6CECE-C4BA-493A-9F45-8F69D8200EC9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00324-51BB-4021-B482-6C084AB66459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A39B-E1E0-4B19-A965-1E1097FB3AF3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A761-699F-4B94-BA43-1E8C0C9C554B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DE65-0759-4C9C-9804-8C4C0AC5F8D7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Connecteur droit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F433-E5EB-4B74-B8BB-3F6D9EEAE800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EAC06-18E9-471A-B77A-CDA5C363BF1F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0BD1-A4B5-444B-B773-B4FDD97DF200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4AF49-C35E-40F6-8345-CA866716EE79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Triangle isocè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5391149" cy="990600"/>
          </a:xfrm>
          <a:prstGeom prst="rect">
            <a:avLst/>
          </a:prstGeom>
        </p:spPr>
        <p:txBody>
          <a:bodyPr vert="horz" anchor="ctr" anchorCtr="0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dirty="0"/>
              <a:t>Cliquez pour modifier les styles du texte du masque</a:t>
            </a:r>
          </a:p>
          <a:p>
            <a:pPr lvl="1" eaLnBrk="1" latinLnBrk="0" hangingPunct="1"/>
            <a:r>
              <a:rPr kumimoji="0" lang="fr-FR" dirty="0"/>
              <a:t>Deuxième niveau</a:t>
            </a:r>
          </a:p>
          <a:p>
            <a:pPr lvl="2" eaLnBrk="1" latinLnBrk="0" hangingPunct="1"/>
            <a:r>
              <a:rPr kumimoji="0" lang="fr-FR" dirty="0"/>
              <a:t>Troisième niveau</a:t>
            </a:r>
          </a:p>
          <a:p>
            <a:pPr lvl="3" eaLnBrk="1" latinLnBrk="0" hangingPunct="1"/>
            <a:r>
              <a:rPr kumimoji="0" lang="fr-FR" dirty="0"/>
              <a:t>Quatrième niveau</a:t>
            </a:r>
          </a:p>
          <a:p>
            <a:pPr lvl="4" eaLnBrk="1" latinLnBrk="0" hangingPunct="1"/>
            <a:r>
              <a:rPr kumimoji="0" lang="fr-FR" dirty="0"/>
              <a:t>Cinquième niveau</a:t>
            </a:r>
            <a:endParaRPr kumimoji="0" lang="en-US" dirty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9178431-C703-4FD6-9F6F-E8F5512852E2}" type="datetime1">
              <a:rPr lang="fr-FR" smtClean="0"/>
              <a:pPr/>
              <a:t>18/05/2026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F1D8263-54E8-442D-88B4-DA252C595E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8" name="Connecteur droit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Connecteur droit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Triangle isocè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1600" kern="1200">
          <a:solidFill>
            <a:schemeClr val="tx2"/>
          </a:solidFill>
          <a:latin typeface="Calibri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b="1" dirty="0"/>
              <a:t>Sciences Industrielles de l’Ingénieur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b="1" dirty="0"/>
              <a:t>PSI </a:t>
            </a:r>
            <a:r>
              <a:rPr lang="fr-FR" b="1" dirty="0">
                <a:sym typeface="Wingdings"/>
              </a:rPr>
              <a:t></a:t>
            </a:r>
            <a:endParaRPr lang="fr-FR" b="1" dirty="0"/>
          </a:p>
        </p:txBody>
      </p:sp>
      <p:pic>
        <p:nvPicPr>
          <p:cNvPr id="11" name="Picture 2" descr="C:\Users\pt_ptsi\Desktop\Github\Informatique\P_01_Architecture\01_ArchitectureMaterielle\Cours\png\logo_lyce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5868988"/>
            <a:ext cx="1224136" cy="98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27524F-385E-A725-9744-484823BC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Performance des SLCI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FA3D7A2-ACF0-510D-F5DD-D229263D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EABE14-85B7-4542-33D3-D2D85E9B707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4550296" cy="4937760"/>
          </a:xfrm>
        </p:spPr>
        <p:txBody>
          <a:bodyPr/>
          <a:lstStyle/>
          <a:p>
            <a:r>
              <a:rPr lang="fr-FR" dirty="0"/>
              <a:t>Stabilité</a:t>
            </a:r>
          </a:p>
          <a:p>
            <a:pPr lvl="1"/>
            <a:r>
              <a:rPr lang="fr-FR" dirty="0"/>
              <a:t>Système stable </a:t>
            </a:r>
          </a:p>
          <a:p>
            <a:pPr lvl="2"/>
            <a:r>
              <a:rPr lang="fr-FR" dirty="0"/>
              <a:t>Exemple d’argument : Entrée bornée, Sortie bornée</a:t>
            </a:r>
          </a:p>
          <a:p>
            <a:r>
              <a:rPr lang="fr-FR" dirty="0"/>
              <a:t>Amortissement</a:t>
            </a:r>
          </a:p>
          <a:p>
            <a:pPr lvl="1"/>
            <a:r>
              <a:rPr lang="fr-FR" dirty="0"/>
              <a:t>Système amorti pas (ou très peu) de dépassement</a:t>
            </a:r>
          </a:p>
          <a:p>
            <a:r>
              <a:rPr lang="fr-FR" dirty="0"/>
              <a:t>Rapidité</a:t>
            </a:r>
          </a:p>
          <a:p>
            <a:pPr lvl="1"/>
            <a:r>
              <a:rPr lang="fr-FR" dirty="0"/>
              <a:t>Temps de réponse à 5%</a:t>
            </a:r>
          </a:p>
          <a:p>
            <a:r>
              <a:rPr lang="fr-FR" dirty="0"/>
              <a:t>Précision</a:t>
            </a:r>
          </a:p>
          <a:p>
            <a:pPr lvl="1"/>
            <a:r>
              <a:rPr lang="fr-FR" dirty="0"/>
              <a:t>1,5 mm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42C2EC-0EDB-E90A-48B5-65CC3207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99"/>
          <a:stretch>
            <a:fillRect/>
          </a:stretch>
        </p:blipFill>
        <p:spPr bwMode="auto">
          <a:xfrm>
            <a:off x="5591944" y="858240"/>
            <a:ext cx="6408712" cy="5493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3B91215-8816-9714-9207-0C4ED99979A3}"/>
              </a:ext>
            </a:extLst>
          </p:cNvPr>
          <p:cNvCxnSpPr/>
          <p:nvPr/>
        </p:nvCxnSpPr>
        <p:spPr>
          <a:xfrm>
            <a:off x="6096000" y="1120140"/>
            <a:ext cx="5688632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D39E9DB0-22A6-00DE-7B46-1C7CBB64ED5D}"/>
              </a:ext>
            </a:extLst>
          </p:cNvPr>
          <p:cNvSpPr txBox="1"/>
          <p:nvPr/>
        </p:nvSpPr>
        <p:spPr>
          <a:xfrm>
            <a:off x="9336360" y="75080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Consigne : 10 mm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6506BB-F1DD-7114-9439-C0FEE6B5A49D}"/>
              </a:ext>
            </a:extLst>
          </p:cNvPr>
          <p:cNvSpPr txBox="1"/>
          <p:nvPr/>
        </p:nvSpPr>
        <p:spPr>
          <a:xfrm>
            <a:off x="9551550" y="191683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Mesure de 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385CA-2E66-9F43-3781-A49111F86156}"/>
              </a:ext>
            </a:extLst>
          </p:cNvPr>
          <p:cNvSpPr/>
          <p:nvPr/>
        </p:nvSpPr>
        <p:spPr>
          <a:xfrm>
            <a:off x="6096000" y="1628802"/>
            <a:ext cx="5760640" cy="5040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8BD581-4005-8E35-60B8-8FACA8936349}"/>
              </a:ext>
            </a:extLst>
          </p:cNvPr>
          <p:cNvSpPr txBox="1"/>
          <p:nvPr/>
        </p:nvSpPr>
        <p:spPr>
          <a:xfrm>
            <a:off x="6167174" y="1310437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8.8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C97D155-E2A5-C9DF-DCF0-C32E91569B4C}"/>
              </a:ext>
            </a:extLst>
          </p:cNvPr>
          <p:cNvSpPr txBox="1"/>
          <p:nvPr/>
        </p:nvSpPr>
        <p:spPr>
          <a:xfrm>
            <a:off x="6167174" y="213285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7.97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0BCDEC1-DC4C-A71B-B650-8F9FB15AC7FE}"/>
              </a:ext>
            </a:extLst>
          </p:cNvPr>
          <p:cNvCxnSpPr/>
          <p:nvPr/>
        </p:nvCxnSpPr>
        <p:spPr>
          <a:xfrm>
            <a:off x="7104112" y="2204864"/>
            <a:ext cx="0" cy="3744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5D1DBFAC-989B-C894-D26A-D5C0F0625D37}"/>
              </a:ext>
            </a:extLst>
          </p:cNvPr>
          <p:cNvSpPr txBox="1"/>
          <p:nvPr/>
        </p:nvSpPr>
        <p:spPr>
          <a:xfrm>
            <a:off x="7333748" y="5480949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0,05 s</a:t>
            </a:r>
          </a:p>
        </p:txBody>
      </p:sp>
      <p:sp>
        <p:nvSpPr>
          <p:cNvPr id="16" name="Flèche : double flèche verticale 15">
            <a:extLst>
              <a:ext uri="{FF2B5EF4-FFF2-40B4-BE49-F238E27FC236}">
                <a16:creationId xmlns:a16="http://schemas.microsoft.com/office/drawing/2014/main" id="{EBD15E2D-08F2-664A-4F01-EDED4DABC154}"/>
              </a:ext>
            </a:extLst>
          </p:cNvPr>
          <p:cNvSpPr/>
          <p:nvPr/>
        </p:nvSpPr>
        <p:spPr>
          <a:xfrm>
            <a:off x="8615446" y="1120140"/>
            <a:ext cx="504056" cy="770561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3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2FF5B9-2236-2775-E453-0E8D6546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28B003-62FA-DC05-D7B6-76E6D87F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8263-54E8-442D-88B4-DA252C595E3D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7DE85D7-23FE-3722-7B80-F7A19369B26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" r="32719" b="-701"/>
          <a:stretch>
            <a:fillRect/>
          </a:stretch>
        </p:blipFill>
        <p:spPr bwMode="auto">
          <a:xfrm>
            <a:off x="8075611" y="1605681"/>
            <a:ext cx="3653881" cy="311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7AB1373-A0F0-5D77-CBB2-02183F78B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99"/>
          <a:stretch>
            <a:fillRect/>
          </a:stretch>
        </p:blipFill>
        <p:spPr bwMode="auto">
          <a:xfrm>
            <a:off x="4293120" y="1605681"/>
            <a:ext cx="3639158" cy="31194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455BE691-456B-BA70-0295-C331A1198C45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4550296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Système</a:t>
            </a:r>
          </a:p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Entrée et multipliée par 10… Mais pas la sortie</a:t>
            </a:r>
          </a:p>
          <a:p>
            <a:pPr lvl="1"/>
            <a:endParaRPr lang="fr-FR" dirty="0"/>
          </a:p>
          <a:p>
            <a:r>
              <a:rPr lang="fr-FR" dirty="0"/>
              <a:t>Continu</a:t>
            </a:r>
          </a:p>
          <a:p>
            <a:r>
              <a:rPr lang="fr-FR" dirty="0"/>
              <a:t>Invariant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4628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e">
  <a:themeElements>
    <a:clrScheme name="Origine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e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69</Words>
  <Application>Microsoft Office PowerPoint</Application>
  <PresentationFormat>Grand écran</PresentationFormat>
  <Paragraphs>26</Paragraphs>
  <Slides>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Calibri</vt:lpstr>
      <vt:lpstr>Gill Sans MT</vt:lpstr>
      <vt:lpstr>Wingdings</vt:lpstr>
      <vt:lpstr>Wingdings 3</vt:lpstr>
      <vt:lpstr>Origine</vt:lpstr>
      <vt:lpstr>Sciences Industrielles de l’Ingénieur</vt:lpstr>
      <vt:lpstr>Performance des SLCI</vt:lpstr>
      <vt:lpstr>Présentation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la SII en PSI</dc:title>
  <dc:creator>Xavier Pessoles</dc:creator>
  <cp:lastModifiedBy>Xavier Pessoles</cp:lastModifiedBy>
  <cp:revision>130</cp:revision>
  <dcterms:created xsi:type="dcterms:W3CDTF">2014-09-30T07:33:25Z</dcterms:created>
  <dcterms:modified xsi:type="dcterms:W3CDTF">2026-05-18T14:12:11Z</dcterms:modified>
</cp:coreProperties>
</file>